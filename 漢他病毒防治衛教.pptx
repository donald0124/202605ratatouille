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0"/>
            <a:ext cx="68881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B3A0F"/>
          </a:solidFill>
          <a:ln w="12700">
            <a:solidFill>
              <a:srgbClr val="1B3A0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64000"/>
          </a:solidFill>
          <a:ln w="12700">
            <a:solidFill>
              <a:srgbClr val="D640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64000"/>
          </a:solidFill>
          <a:ln w="12700">
            <a:solidFill>
              <a:srgbClr val="D640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846320" y="0"/>
            <a:ext cx="1371600" cy="6858000"/>
          </a:xfrm>
          <a:prstGeom prst="rect">
            <a:avLst/>
          </a:prstGeom>
          <a:solidFill>
            <a:srgbClr val="1B3A0F">
              <a:alpha val="50000"/>
            </a:srgbClr>
          </a:solidFill>
          <a:ln w="12700">
            <a:solidFill>
              <a:srgbClr val="1B3A0F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09728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敵從鼠來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457200" y="26517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FAD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漢他病毒防治衛教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457200" y="3657600"/>
            <a:ext cx="3657600" cy="54864"/>
          </a:xfrm>
          <a:prstGeom prst="rect">
            <a:avLst/>
          </a:prstGeom>
          <a:solidFill>
            <a:srgbClr val="D64000"/>
          </a:solidFill>
          <a:ln w="12700">
            <a:solidFill>
              <a:srgbClr val="D64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38404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CC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桃園單位衛生醫療部門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57200" y="4251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C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2026年5月　｜　報告時間：10–12 分鐘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7200" y="4846320"/>
            <a:ext cx="3474720" cy="594360"/>
          </a:xfrm>
          <a:prstGeom prst="roundRect">
            <a:avLst>
              <a:gd name="adj" fmla="val 12308"/>
            </a:avLst>
          </a:prstGeom>
          <a:solidFill>
            <a:srgbClr val="D64000"/>
          </a:solidFill>
          <a:ln w="12700">
            <a:solidFill>
              <a:srgbClr val="D64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8463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 法定傳染病・第三類通報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57200" y="58521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A62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「一隻鼠的排泄物，可以讓一個人住進 ICU」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D5A1B"/>
          </a:solidFill>
          <a:ln w="12700">
            <a:solidFill>
              <a:srgbClr val="2D5A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4000"/>
          </a:solidFill>
          <a:ln w="12700">
            <a:solidFill>
              <a:srgbClr val="D64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台灣疫情現況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8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最新資料（截至2026年5月）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1247120" cy="960120"/>
          </a:xfrm>
          <a:prstGeom prst="rect">
            <a:avLst/>
          </a:prstGeom>
          <a:solidFill>
            <a:srgbClr val="FFF0E8"/>
          </a:solidFill>
          <a:ln w="12700">
            <a:solidFill>
              <a:srgbClr val="D64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164592" cy="960120"/>
          </a:xfrm>
          <a:prstGeom prst="rect">
            <a:avLst/>
          </a:prstGeom>
          <a:solidFill>
            <a:srgbClr val="D64000"/>
          </a:solidFill>
          <a:ln w="12700">
            <a:solidFill>
              <a:srgbClr val="D64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261872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4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 2000 年以來首起死亡案例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1664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台北市70多歲男性，1月發病，敗血症併多重器官衰竭死亡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2651760" cy="2560320"/>
          </a:xfrm>
          <a:prstGeom prst="rect">
            <a:avLst/>
          </a:prstGeom>
          <a:solidFill>
            <a:srgbClr val="EFF5E8"/>
          </a:solidFill>
          <a:ln w="12700">
            <a:solidFill>
              <a:srgbClr val="4A7C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2316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2D5A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600" dirty="0"/>
          </a:p>
        </p:txBody>
      </p:sp>
      <p:sp>
        <p:nvSpPr>
          <p:cNvPr id="12" name="Text 10"/>
          <p:cNvSpPr/>
          <p:nvPr/>
        </p:nvSpPr>
        <p:spPr>
          <a:xfrm>
            <a:off x="457200" y="3657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2026年確診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40233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B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（截至5月）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24231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D64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第1例：</a:t>
            </a:r>
            <a:pPr indent="0" marL="0">
              <a:buNone/>
            </a:pPr>
            <a:r>
              <a:rPr lang="en-US" sz="1600" dirty="0">
                <a:solidFill>
                  <a:srgbClr val="1A2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台北市男性・1月・死亡（多重器官衰竭）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3280" y="29718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2D5A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第2例：</a:t>
            </a:r>
            <a:pPr indent="0" marL="0">
              <a:buNone/>
            </a:pPr>
            <a:r>
              <a:rPr lang="en-US" sz="1600" dirty="0">
                <a:solidFill>
                  <a:srgbClr val="1A2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新北市男性・3月・治療後出院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83280" y="356616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主要病毒株：漢他病毒（Hantaan）、首爾病毒（Seoul）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572000"/>
            <a:ext cx="3474720" cy="1920240"/>
          </a:xfrm>
          <a:prstGeom prst="rect">
            <a:avLst/>
          </a:prstGeom>
          <a:solidFill>
            <a:srgbClr val="EFF5E8"/>
          </a:solidFill>
          <a:ln w="12700">
            <a:solidFill>
              <a:srgbClr val="8FAD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6177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5A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45 例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57200" y="5440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自2017年起累計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5806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確診案例總數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06240" y="4572000"/>
            <a:ext cx="3474720" cy="1920240"/>
          </a:xfrm>
          <a:prstGeom prst="rect">
            <a:avLst/>
          </a:prstGeom>
          <a:solidFill>
            <a:srgbClr val="EFF5E8"/>
          </a:solidFill>
          <a:ln w="12700">
            <a:solidFill>
              <a:srgbClr val="8FAD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0" y="46177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5A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67%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4206240" y="5440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男性占比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206240" y="5806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男性患者為主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955280" y="4572000"/>
            <a:ext cx="3474720" cy="1920240"/>
          </a:xfrm>
          <a:prstGeom prst="rect">
            <a:avLst/>
          </a:prstGeom>
          <a:solidFill>
            <a:srgbClr val="EFF5E8"/>
          </a:solidFill>
          <a:ln w="12700">
            <a:solidFill>
              <a:srgbClr val="8FAD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0" y="46177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5A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67%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7955280" y="5440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40歲以上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955280" y="5806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中高齡族群風險高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D5A1B"/>
          </a:solidFill>
          <a:ln w="12700">
            <a:solidFill>
              <a:srgbClr val="2D5A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4000"/>
          </a:solidFill>
          <a:ln w="12700">
            <a:solidFill>
              <a:srgbClr val="D64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為什麼我們要在意？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8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漢他病毒對軍事場域的威脅層面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326880" y="1051560"/>
            <a:ext cx="2864815" cy="5806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44000" y="1051560"/>
            <a:ext cx="274320" cy="580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234440"/>
            <a:ext cx="8503920" cy="1051560"/>
          </a:xfrm>
          <a:prstGeom prst="rect">
            <a:avLst/>
          </a:prstGeom>
          <a:solidFill>
            <a:srgbClr val="1B3A0F"/>
          </a:solidFill>
          <a:ln w="12700">
            <a:solidFill>
              <a:srgbClr val="1B3A0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234440"/>
            <a:ext cx="8503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「一隻鼠的排泄物，可以讓一個人住進 ICU」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57200" y="2468880"/>
            <a:ext cx="26060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40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2468880"/>
            <a:ext cx="2606040" cy="777240"/>
          </a:xfrm>
          <a:prstGeom prst="rect">
            <a:avLst/>
          </a:prstGeom>
          <a:solidFill>
            <a:srgbClr val="D64000"/>
          </a:solidFill>
          <a:ln w="12700">
            <a:solidFill>
              <a:srgbClr val="D64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0352" y="2542032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0352" y="25420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4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48640" y="2542032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致死率 1–15%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94360" y="3429000"/>
            <a:ext cx="2331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2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重症需加護病房（ICU）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A2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漢他出血熱腎症候群（HFRS）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3291840" y="2468880"/>
            <a:ext cx="26060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D5A1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91840" y="2468880"/>
            <a:ext cx="2606040" cy="777240"/>
          </a:xfrm>
          <a:prstGeom prst="rect">
            <a:avLst/>
          </a:prstGeom>
          <a:solidFill>
            <a:srgbClr val="2D5A1B"/>
          </a:solidFill>
          <a:ln w="12700">
            <a:solidFill>
              <a:srgbClr val="2D5A1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364992" y="2542032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364992" y="25420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5A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3383280" y="2542032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法定傳染病・第三類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429000" y="3429000"/>
            <a:ext cx="2331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2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1週內通報義務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A2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軍事單位有特殊管理責任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126480" y="2468880"/>
            <a:ext cx="26060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C2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126480" y="2468880"/>
            <a:ext cx="2606040" cy="777240"/>
          </a:xfrm>
          <a:prstGeom prst="rect">
            <a:avLst/>
          </a:prstGeom>
          <a:solidFill>
            <a:srgbClr val="4A7C2A"/>
          </a:solidFill>
          <a:ln w="12700">
            <a:solidFill>
              <a:srgbClr val="4A7C2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199632" y="2542032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99632" y="25420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7C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6217920" y="2542032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軍事場域特殊風險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263640" y="3429000"/>
            <a:ext cx="2331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2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糧倉・地下設施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A2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廢棄空間・野訓環境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D5A1B"/>
          </a:solidFill>
          <a:ln w="12700">
            <a:solidFill>
              <a:srgbClr val="2D5A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4000"/>
          </a:solidFill>
          <a:ln w="12700">
            <a:solidFill>
              <a:srgbClr val="D64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傳播途徑——怎麼感染的？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8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關鍵認知：不是被咬才感染！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286000" cy="1371600"/>
          </a:xfrm>
          <a:prstGeom prst="rect">
            <a:avLst/>
          </a:prstGeom>
          <a:solidFill>
            <a:srgbClr val="D64000"/>
          </a:solidFill>
          <a:ln w="12700">
            <a:solidFill>
              <a:srgbClr val="D64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鼠類排泄物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DDD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（糞・尿・唾液）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B6B"/>
                </a:solidFill>
              </a:rPr>
              <a:t>▶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017520" y="1280160"/>
            <a:ext cx="2286000" cy="1371600"/>
          </a:xfrm>
          <a:prstGeom prst="rect">
            <a:avLst/>
          </a:prstGeom>
          <a:solidFill>
            <a:srgbClr val="D05A00"/>
          </a:solidFill>
          <a:ln w="12700">
            <a:solidFill>
              <a:srgbClr val="D05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13258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乾燥揚塵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01752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DDD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（掃地・翻舊物）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B6B"/>
                </a:solidFill>
              </a:rPr>
              <a:t>▶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577840" y="1280160"/>
            <a:ext cx="2286000" cy="1371600"/>
          </a:xfrm>
          <a:prstGeom prst="rect">
            <a:avLst/>
          </a:prstGeom>
          <a:solidFill>
            <a:srgbClr val="2D5A1B"/>
          </a:solidFill>
          <a:ln w="12700">
            <a:solidFill>
              <a:srgbClr val="2D5A1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13258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吸入塵埃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57784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DDD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最主要感染途徑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6384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B6B"/>
                </a:solidFill>
              </a:rPr>
              <a:t>▶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8138160" y="1280160"/>
            <a:ext cx="2286000" cy="1371600"/>
          </a:xfrm>
          <a:prstGeom prst="rect">
            <a:avLst/>
          </a:prstGeom>
          <a:solidFill>
            <a:srgbClr val="1B3A0F"/>
          </a:solidFill>
          <a:ln w="12700">
            <a:solidFill>
              <a:srgbClr val="1B3A0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13258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漢他感染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13816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DDD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病毒侵入人體</a:t>
            </a:r>
            <a:endParaRPr lang="en-US" sz="12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55280" y="2743200"/>
            <a:ext cx="4023360" cy="365760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457200" y="2880360"/>
            <a:ext cx="3200400" cy="3291840"/>
          </a:xfrm>
          <a:prstGeom prst="roundRect">
            <a:avLst>
              <a:gd name="adj" fmla="val 2857"/>
            </a:avLst>
          </a:prstGeom>
          <a:solidFill>
            <a:srgbClr val="EFF5E8"/>
          </a:solidFill>
          <a:ln w="12700">
            <a:solidFill>
              <a:srgbClr val="4A7C2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30175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❌</a:t>
            </a:r>
            <a:endParaRPr lang="en-US" sz="3400" dirty="0"/>
          </a:p>
        </p:txBody>
      </p:sp>
      <p:sp>
        <p:nvSpPr>
          <p:cNvPr id="24" name="Text 21"/>
          <p:cNvSpPr/>
          <p:nvPr/>
        </p:nvSpPr>
        <p:spPr>
          <a:xfrm>
            <a:off x="594360" y="37947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D5A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不需被咬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594360" y="438912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吸入含病毒塵埃即感染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2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不需直接接觸鼠隻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3931920" y="2880360"/>
            <a:ext cx="3200400" cy="3291840"/>
          </a:xfrm>
          <a:prstGeom prst="roundRect">
            <a:avLst>
              <a:gd name="adj" fmla="val 2857"/>
            </a:avLst>
          </a:prstGeom>
          <a:solidFill>
            <a:srgbClr val="EFF5E8"/>
          </a:solidFill>
          <a:ln w="12700">
            <a:solidFill>
              <a:srgbClr val="4A7C2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931920" y="30175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❌</a:t>
            </a:r>
            <a:endParaRPr lang="en-US" sz="3400" dirty="0"/>
          </a:p>
        </p:txBody>
      </p:sp>
      <p:sp>
        <p:nvSpPr>
          <p:cNvPr id="28" name="Text 25"/>
          <p:cNvSpPr/>
          <p:nvPr/>
        </p:nvSpPr>
        <p:spPr>
          <a:xfrm>
            <a:off x="4069080" y="37947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D5A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不會人傳人</a:t>
            </a:r>
            <a:endParaRPr lang="en-US" sz="1900" dirty="0"/>
          </a:p>
        </p:txBody>
      </p:sp>
      <p:sp>
        <p:nvSpPr>
          <p:cNvPr id="29" name="Text 26"/>
          <p:cNvSpPr/>
          <p:nvPr/>
        </p:nvSpPr>
        <p:spPr>
          <a:xfrm>
            <a:off x="4069080" y="438912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接觸患者無感染風險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2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安心照護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solidFill>
            <a:srgbClr val="D64000"/>
          </a:solidFill>
          <a:ln w="12700">
            <a:solidFill>
              <a:srgbClr val="D640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 最高風險行為：清掃廢棄空間、翻動舊箱 → 必須先通風、先噴消毒、再戴口罩手套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D5A1B"/>
          </a:solidFill>
          <a:ln w="12700">
            <a:solidFill>
              <a:srgbClr val="2D5A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4000"/>
          </a:solidFill>
          <a:ln w="12700">
            <a:solidFill>
              <a:srgbClr val="D64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臨床症狀——怎麼判斷？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8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漢他出血熱腎症候群（HFRS）三期病程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C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3657600" cy="960120"/>
          </a:xfrm>
          <a:prstGeom prst="rect">
            <a:avLst/>
          </a:prstGeom>
          <a:solidFill>
            <a:srgbClr val="4A7C2A"/>
          </a:solidFill>
          <a:ln w="12700">
            <a:solidFill>
              <a:srgbClr val="4A7C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258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前驅期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發病 1–4 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3774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突發高燒（&gt;38.5°C）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32461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頭痛・肌肉痠痛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41148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眼眶周圍疼痛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89120" y="128016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4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1280160"/>
            <a:ext cx="3657600" cy="960120"/>
          </a:xfrm>
          <a:prstGeom prst="rect">
            <a:avLst/>
          </a:prstGeom>
          <a:solidFill>
            <a:srgbClr val="D64000"/>
          </a:solidFill>
          <a:ln w="12700">
            <a:solidFill>
              <a:srgbClr val="D64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13258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出血／低血壓期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480560" y="18745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4–8 天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17720" y="23774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皮膚出血點（petechiae）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17720" y="32461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血壓下降・少尿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17720" y="41148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嚴重者進入 ICU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21040" y="128016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870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21040" y="1280160"/>
            <a:ext cx="3657600" cy="960120"/>
          </a:xfrm>
          <a:prstGeom prst="rect">
            <a:avLst/>
          </a:prstGeom>
          <a:solidFill>
            <a:srgbClr val="28703A"/>
          </a:solidFill>
          <a:ln w="12700">
            <a:solidFill>
              <a:srgbClr val="2870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13258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多尿／恢復期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12480" y="18745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1–2 週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49640" y="23774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尿量逐漸增加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49640" y="32461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腎功能恢復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49640" y="41148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需持續監測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solidFill>
            <a:srgbClr val="FFF0E8"/>
          </a:solidFill>
          <a:ln w="12700">
            <a:solidFill>
              <a:srgbClr val="D64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5669280"/>
            <a:ext cx="164592" cy="1005840"/>
          </a:xfrm>
          <a:prstGeom prst="rect">
            <a:avLst/>
          </a:prstGeom>
          <a:solidFill>
            <a:srgbClr val="D64000"/>
          </a:solidFill>
          <a:ln w="12700">
            <a:solidFill>
              <a:srgbClr val="D64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705856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4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 關鍵警示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77240" y="6108192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有鼠接觸史  ＋  發燒  ＋  血小板低下  ＝  高度懷疑漢他・立即就醫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D5A1B"/>
          </a:solidFill>
          <a:ln w="12700">
            <a:solidFill>
              <a:srgbClr val="2D5A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4000"/>
          </a:solidFill>
          <a:ln w="12700">
            <a:solidFill>
              <a:srgbClr val="D64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如何通報——SOP 流程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8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法定傳染病第三類，1 週內完成通報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68680" cy="868680"/>
          </a:xfrm>
          <a:prstGeom prst="ellipse">
            <a:avLst/>
          </a:prstGeom>
          <a:solidFill>
            <a:srgbClr val="2D5A1B"/>
          </a:solidFill>
          <a:ln w="12700">
            <a:solidFill>
              <a:srgbClr val="2D5A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41248" y="2240280"/>
            <a:ext cx="109728" cy="365760"/>
          </a:xfrm>
          <a:prstGeom prst="rect">
            <a:avLst/>
          </a:prstGeom>
          <a:solidFill>
            <a:srgbClr val="8FAD45"/>
          </a:solidFill>
          <a:ln w="12700">
            <a:solidFill>
              <a:srgbClr val="8FAD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54480" y="1325880"/>
            <a:ext cx="10149840" cy="868680"/>
          </a:xfrm>
          <a:prstGeom prst="rect">
            <a:avLst/>
          </a:prstGeom>
          <a:solidFill>
            <a:srgbClr val="EFF5E8"/>
          </a:solidFill>
          <a:ln w="12700">
            <a:solidFill>
              <a:srgbClr val="4A7C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83080" y="132588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5A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發現疑似個案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92240" y="132588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B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發燒＋鼠接觸史＋符合症狀組合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633472"/>
            <a:ext cx="868680" cy="868680"/>
          </a:xfrm>
          <a:prstGeom prst="ellipse">
            <a:avLst/>
          </a:prstGeom>
          <a:solidFill>
            <a:srgbClr val="2D5A1B"/>
          </a:solidFill>
          <a:ln w="12700">
            <a:solidFill>
              <a:srgbClr val="2D5A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33472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41248" y="3502152"/>
            <a:ext cx="109728" cy="365760"/>
          </a:xfrm>
          <a:prstGeom prst="rect">
            <a:avLst/>
          </a:prstGeom>
          <a:solidFill>
            <a:srgbClr val="8FAD45"/>
          </a:solidFill>
          <a:ln w="12700">
            <a:solidFill>
              <a:srgbClr val="8FAD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54480" y="2587752"/>
            <a:ext cx="10149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C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83080" y="2587752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5A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立即通知醫務所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92240" y="2587752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B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不要等待觀察，主動聯繫醫療人員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895344"/>
            <a:ext cx="868680" cy="868680"/>
          </a:xfrm>
          <a:prstGeom prst="ellipse">
            <a:avLst/>
          </a:prstGeom>
          <a:solidFill>
            <a:srgbClr val="2D5A1B"/>
          </a:solidFill>
          <a:ln w="12700">
            <a:solidFill>
              <a:srgbClr val="2D5A1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895344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41248" y="4764024"/>
            <a:ext cx="109728" cy="365760"/>
          </a:xfrm>
          <a:prstGeom prst="rect">
            <a:avLst/>
          </a:prstGeom>
          <a:solidFill>
            <a:srgbClr val="8FAD45"/>
          </a:solidFill>
          <a:ln w="12700">
            <a:solidFill>
              <a:srgbClr val="8FAD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54480" y="3849624"/>
            <a:ext cx="10149840" cy="868680"/>
          </a:xfrm>
          <a:prstGeom prst="rect">
            <a:avLst/>
          </a:prstGeom>
          <a:solidFill>
            <a:srgbClr val="EFF5E8"/>
          </a:solidFill>
          <a:ln w="12700">
            <a:solidFill>
              <a:srgbClr val="4A7C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83080" y="3849624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5A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協助安排就醫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492240" y="3849624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B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送急診（非自行在家觀察）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7200" y="5157216"/>
            <a:ext cx="868680" cy="868680"/>
          </a:xfrm>
          <a:prstGeom prst="ellipse">
            <a:avLst/>
          </a:prstGeom>
          <a:solidFill>
            <a:srgbClr val="2D5A1B"/>
          </a:solidFill>
          <a:ln w="12700">
            <a:solidFill>
              <a:srgbClr val="2D5A1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5157216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1554480" y="5111496"/>
            <a:ext cx="10149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C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83080" y="5111496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5A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醫院完成法定通報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492240" y="5111496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B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由醫院通報疾管署／衛生局，1週內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solidFill>
            <a:srgbClr val="2D5A1B"/>
          </a:solidFill>
          <a:ln w="12700">
            <a:solidFill>
              <a:srgbClr val="2D5A1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醫療部門角色：啟動流程・協助就醫——不是診斷，是行動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D5A1B"/>
          </a:solidFill>
          <a:ln w="12700">
            <a:solidFill>
              <a:srgbClr val="2D5A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4000"/>
          </a:solidFill>
          <a:ln w="12700">
            <a:solidFill>
              <a:srgbClr val="D64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就醫時要說什麼？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8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兩句話讓醫生做對的檢查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1247120" cy="2011680"/>
          </a:xfrm>
          <a:prstGeom prst="rect">
            <a:avLst/>
          </a:prstGeom>
          <a:solidFill>
            <a:srgbClr val="EFF5E8"/>
          </a:solidFill>
          <a:ln w="12700">
            <a:solidFill>
              <a:srgbClr val="2D5A1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828800"/>
            <a:ext cx="822960" cy="822960"/>
          </a:xfrm>
          <a:prstGeom prst="ellipse">
            <a:avLst/>
          </a:prstGeom>
          <a:solidFill>
            <a:srgbClr val="2D5A1B"/>
          </a:solidFill>
          <a:ln w="12700">
            <a:solidFill>
              <a:srgbClr val="2D5A1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00200" y="1417320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5A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「我最近有接觸鼠類活動場域」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00200" y="228600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B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觸發醫生排查漢他病毒暴露史，避免誤診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11247120" cy="2011680"/>
          </a:xfrm>
          <a:prstGeom prst="rect">
            <a:avLst/>
          </a:prstGeom>
          <a:solidFill>
            <a:srgbClr val="E8F5E8"/>
          </a:solidFill>
          <a:ln w="12700">
            <a:solidFill>
              <a:srgbClr val="2870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4206240"/>
            <a:ext cx="822960" cy="822960"/>
          </a:xfrm>
          <a:prstGeom prst="ellipse">
            <a:avLst/>
          </a:prstGeom>
          <a:solidFill>
            <a:srgbClr val="28703A"/>
          </a:solidFill>
          <a:ln w="12700">
            <a:solidFill>
              <a:srgbClr val="287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206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600200" y="3794760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87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「症狀：發燒第 X 天，有頭痛、肌肉痠痛」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600200" y="466344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B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幫助醫生判斷病程階段，決定是否抽血驗IgM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solidFill>
            <a:srgbClr val="E8EDE8"/>
          </a:solidFill>
          <a:ln w="12700">
            <a:solidFill>
              <a:srgbClr val="E8ED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B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就醫地點：一般急診即可　｜　醫院檢查：CBC血小板・腎功能・漢他病毒抗體IgM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D5A1B"/>
          </a:solidFill>
          <a:ln w="12700">
            <a:solidFill>
              <a:srgbClr val="2D5A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4000"/>
          </a:solidFill>
          <a:ln w="12700">
            <a:solidFill>
              <a:srgbClr val="D64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鼠患識別——知道牠在哪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8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現場可操作 Checklist，發現即回報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7315200" cy="804672"/>
          </a:xfrm>
          <a:prstGeom prst="rect">
            <a:avLst/>
          </a:prstGeom>
          <a:solidFill>
            <a:srgbClr val="EFF5E8"/>
          </a:solidFill>
          <a:ln w="12700">
            <a:solidFill>
              <a:srgbClr val="4A7C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502920" cy="804672"/>
          </a:xfrm>
          <a:prstGeom prst="rect">
            <a:avLst/>
          </a:prstGeom>
          <a:solidFill>
            <a:srgbClr val="2D5A1B"/>
          </a:solidFill>
          <a:ln w="12700">
            <a:solidFill>
              <a:srgbClr val="2D5A1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51560" y="1371600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5A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🐀 鼠糞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74720" y="1371600"/>
            <a:ext cx="4114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黑色小顆粒，沿牆邊分布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7315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4A7C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286000"/>
            <a:ext cx="502920" cy="804672"/>
          </a:xfrm>
          <a:prstGeom prst="rect">
            <a:avLst/>
          </a:prstGeom>
          <a:solidFill>
            <a:srgbClr val="2D5A1B"/>
          </a:solidFill>
          <a:ln w="12700">
            <a:solidFill>
              <a:srgbClr val="2D5A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8600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51560" y="2286000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5A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🦷 咬痕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74720" y="2286000"/>
            <a:ext cx="4114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電線、紙箱、食品袋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7315200" cy="804672"/>
          </a:xfrm>
          <a:prstGeom prst="rect">
            <a:avLst/>
          </a:prstGeom>
          <a:solidFill>
            <a:srgbClr val="EFF5E8"/>
          </a:solidFill>
          <a:ln w="12700">
            <a:solidFill>
              <a:srgbClr val="4A7C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200400"/>
            <a:ext cx="502920" cy="804672"/>
          </a:xfrm>
          <a:prstGeom prst="rect">
            <a:avLst/>
          </a:prstGeom>
          <a:solidFill>
            <a:srgbClr val="2D5A1B"/>
          </a:solidFill>
          <a:ln w="12700">
            <a:solidFill>
              <a:srgbClr val="2D5A1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0040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51560" y="3200400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5A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🖤 油脂痕跡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474720" y="3200400"/>
            <a:ext cx="4114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沿鼠行路徑的黑色油漬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7315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4A7C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114800"/>
            <a:ext cx="502920" cy="804672"/>
          </a:xfrm>
          <a:prstGeom prst="rect">
            <a:avLst/>
          </a:prstGeom>
          <a:solidFill>
            <a:srgbClr val="2D5A1B"/>
          </a:solidFill>
          <a:ln w="12700">
            <a:solidFill>
              <a:srgbClr val="2D5A1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11480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51560" y="4114800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5A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👃 異味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474720" y="4114800"/>
            <a:ext cx="4114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濃烈鼠尿腥味，密閉空間尤明顯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57200" y="5029200"/>
            <a:ext cx="7315200" cy="804672"/>
          </a:xfrm>
          <a:prstGeom prst="rect">
            <a:avLst/>
          </a:prstGeom>
          <a:solidFill>
            <a:srgbClr val="EFF5E8"/>
          </a:solidFill>
          <a:ln w="12700">
            <a:solidFill>
              <a:srgbClr val="4A7C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5029200"/>
            <a:ext cx="502920" cy="804672"/>
          </a:xfrm>
          <a:prstGeom prst="rect">
            <a:avLst/>
          </a:prstGeom>
          <a:solidFill>
            <a:srgbClr val="2D5A1B"/>
          </a:solidFill>
          <a:ln w="12700">
            <a:solidFill>
              <a:srgbClr val="2D5A1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502920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051560" y="5029200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5A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👁 目視或聲音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474720" y="5029200"/>
            <a:ext cx="4114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夜間聽見異聲，或直接目擊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046720" y="1371600"/>
            <a:ext cx="3657600" cy="4526280"/>
          </a:xfrm>
          <a:prstGeom prst="rect">
            <a:avLst/>
          </a:prstGeom>
          <a:solidFill>
            <a:srgbClr val="1B3A0F"/>
          </a:solidFill>
          <a:ln w="12700">
            <a:solidFill>
              <a:srgbClr val="1B3A0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46720" y="14173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重點高風險場域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229600" y="21488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🏪 糧食倉庫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229600" y="2953512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🍳 廚房區域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229600" y="3758184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🏚 廢棄倉庫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229600" y="4562856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🕳 地下設施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8046720" y="5577840"/>
            <a:ext cx="3657600" cy="320040"/>
          </a:xfrm>
          <a:prstGeom prst="rect">
            <a:avLst/>
          </a:prstGeom>
          <a:solidFill>
            <a:srgbClr val="D64000"/>
          </a:solidFill>
          <a:ln w="12700">
            <a:solidFill>
              <a:srgbClr val="D64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46720" y="5577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回報環境衛生管理單位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solidFill>
            <a:srgbClr val="E8EDE8"/>
          </a:solidFill>
          <a:ln w="12700">
            <a:solidFill>
              <a:srgbClr val="E8ED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5A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發現跡象 → 回報環境衛生管理單位處理（消毒滅鼠非醫療部門業務）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D5A1B"/>
          </a:solidFill>
          <a:ln w="12700">
            <a:solidFill>
              <a:srgbClr val="2D5A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4000"/>
          </a:solidFill>
          <a:ln w="12700">
            <a:solidFill>
              <a:srgbClr val="D64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物理防治——三道防線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8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系統性消除鼠患的正確順序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65760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0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3657600" cy="960120"/>
          </a:xfrm>
          <a:prstGeom prst="rect">
            <a:avLst/>
          </a:prstGeom>
          <a:solidFill>
            <a:srgbClr val="1B3A0F"/>
          </a:solidFill>
          <a:ln w="12700">
            <a:solidFill>
              <a:srgbClr val="1B3A0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53312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5331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0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1371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E0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第1道防線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6916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阻絕（Exclusion）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2423160"/>
            <a:ext cx="3246120" cy="868680"/>
          </a:xfrm>
          <a:prstGeom prst="rect">
            <a:avLst/>
          </a:prstGeom>
          <a:solidFill>
            <a:srgbClr val="EFF5E8"/>
          </a:solidFill>
          <a:ln w="12700">
            <a:solidFill>
              <a:srgbClr val="4A7C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450592"/>
            <a:ext cx="2971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封堵所有 &gt; 6mm 縫隙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3246120" cy="868680"/>
          </a:xfrm>
          <a:prstGeom prst="rect">
            <a:avLst/>
          </a:prstGeom>
          <a:solidFill>
            <a:srgbClr val="F5F9F0"/>
          </a:solidFill>
          <a:ln w="12700">
            <a:solidFill>
              <a:srgbClr val="4A7C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547872"/>
            <a:ext cx="2971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鐵絲網・水泥補縫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617720"/>
            <a:ext cx="3246120" cy="868680"/>
          </a:xfrm>
          <a:prstGeom prst="rect">
            <a:avLst/>
          </a:prstGeom>
          <a:solidFill>
            <a:srgbClr val="EFF5E8"/>
          </a:solidFill>
          <a:ln w="12700">
            <a:solidFill>
              <a:srgbClr val="4A7C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645152"/>
            <a:ext cx="2971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門縫加裝門掃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370832" y="1280160"/>
            <a:ext cx="365760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D5A1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70832" y="1280160"/>
            <a:ext cx="3657600" cy="960120"/>
          </a:xfrm>
          <a:prstGeom prst="rect">
            <a:avLst/>
          </a:prstGeom>
          <a:solidFill>
            <a:srgbClr val="2D5A1B"/>
          </a:solidFill>
          <a:ln w="12700">
            <a:solidFill>
              <a:srgbClr val="2D5A1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07992" y="1353312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07992" y="135331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5A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462272" y="1371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E0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第2道防線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62272" y="16916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清除食源與棲所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53712" y="2423160"/>
            <a:ext cx="3246120" cy="868680"/>
          </a:xfrm>
          <a:prstGeom prst="rect">
            <a:avLst/>
          </a:prstGeom>
          <a:solidFill>
            <a:srgbClr val="EFF5E8"/>
          </a:solidFill>
          <a:ln w="12700">
            <a:solidFill>
              <a:srgbClr val="4A7C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90872" y="2450592"/>
            <a:ext cx="2971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食物密封儲存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553712" y="3520440"/>
            <a:ext cx="3246120" cy="868680"/>
          </a:xfrm>
          <a:prstGeom prst="rect">
            <a:avLst/>
          </a:prstGeom>
          <a:solidFill>
            <a:srgbClr val="F5F9F0"/>
          </a:solidFill>
          <a:ln w="12700">
            <a:solidFill>
              <a:srgbClr val="4A7C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90872" y="3547872"/>
            <a:ext cx="2971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垃圾當日清除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553712" y="4617720"/>
            <a:ext cx="3246120" cy="868680"/>
          </a:xfrm>
          <a:prstGeom prst="rect">
            <a:avLst/>
          </a:prstGeom>
          <a:solidFill>
            <a:srgbClr val="EFF5E8"/>
          </a:solidFill>
          <a:ln w="12700">
            <a:solidFill>
              <a:srgbClr val="4A7C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90872" y="4645152"/>
            <a:ext cx="2971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清除草叢・廢棄紙箱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284464" y="1280160"/>
            <a:ext cx="365760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C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84464" y="1280160"/>
            <a:ext cx="3657600" cy="960120"/>
          </a:xfrm>
          <a:prstGeom prst="rect">
            <a:avLst/>
          </a:prstGeom>
          <a:solidFill>
            <a:srgbClr val="4A7C2A"/>
          </a:solidFill>
          <a:ln w="12700">
            <a:solidFill>
              <a:srgbClr val="4A7C2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21624" y="1353312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21624" y="135331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7C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8375904" y="1371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E0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第3道防線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375904" y="16916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捕殺（Trapping）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467344" y="2423160"/>
            <a:ext cx="3246120" cy="868680"/>
          </a:xfrm>
          <a:prstGeom prst="rect">
            <a:avLst/>
          </a:prstGeom>
          <a:solidFill>
            <a:srgbClr val="EFF5E8"/>
          </a:solidFill>
          <a:ln w="12700">
            <a:solidFill>
              <a:srgbClr val="4A7C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04504" y="2450592"/>
            <a:ext cx="2971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捕鼠夾優先（可確認捕獲）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8467344" y="3520440"/>
            <a:ext cx="3246120" cy="868680"/>
          </a:xfrm>
          <a:prstGeom prst="rect">
            <a:avLst/>
          </a:prstGeom>
          <a:solidFill>
            <a:srgbClr val="F5F9F0"/>
          </a:solidFill>
          <a:ln w="12700">
            <a:solidFill>
              <a:srgbClr val="4A7C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04504" y="3547872"/>
            <a:ext cx="2971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使用滅鼠藥需記錄標示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8467344" y="4617720"/>
            <a:ext cx="3246120" cy="868680"/>
          </a:xfrm>
          <a:prstGeom prst="rect">
            <a:avLst/>
          </a:prstGeom>
          <a:solidFill>
            <a:srgbClr val="EFF5E8"/>
          </a:solidFill>
          <a:ln w="12700">
            <a:solidFill>
              <a:srgbClr val="4A7C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04504" y="4645152"/>
            <a:ext cx="2971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指定人員統一管理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solidFill>
            <a:srgbClr val="8FAD45"/>
          </a:solidFill>
          <a:ln w="12700">
            <a:solidFill>
              <a:srgbClr val="8FAD45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D5A1B"/>
          </a:solidFill>
          <a:ln w="12700">
            <a:solidFill>
              <a:srgbClr val="2D5A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4000"/>
          </a:solidFill>
          <a:ln w="12700">
            <a:solidFill>
              <a:srgbClr val="D64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清理鼠患現場——最危險的環節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8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乾掃＝揚起含病毒塵埃，正確步驟不能省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solidFill>
            <a:srgbClr val="D64000"/>
          </a:solidFill>
          <a:ln w="12700">
            <a:solidFill>
              <a:srgbClr val="D64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 乾掃・用嘴吹氣 = 最危險！立即有感染風險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2011680" cy="3017520"/>
          </a:xfrm>
          <a:prstGeom prst="rect">
            <a:avLst/>
          </a:prstGeom>
          <a:solidFill>
            <a:srgbClr val="4A7C2A"/>
          </a:solidFill>
          <a:ln w="12700">
            <a:solidFill>
              <a:srgbClr val="4A7C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860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先通風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3703320"/>
            <a:ext cx="1828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E8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開窗 30分鐘以上再進入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3246120"/>
            <a:ext cx="2194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B6B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706624" y="2240280"/>
            <a:ext cx="2011680" cy="3017520"/>
          </a:xfrm>
          <a:prstGeom prst="rect">
            <a:avLst/>
          </a:prstGeom>
          <a:solidFill>
            <a:srgbClr val="2D5A1B"/>
          </a:solidFill>
          <a:ln w="12700">
            <a:solidFill>
              <a:srgbClr val="2D5A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06624" y="22860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2798064" y="3063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穿戴防護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798064" y="3703320"/>
            <a:ext cx="1828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E8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外科口罩＋手套，不摸臉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18304" y="3246120"/>
            <a:ext cx="2194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B6B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956048" y="2240280"/>
            <a:ext cx="2011680" cy="3017520"/>
          </a:xfrm>
          <a:prstGeom prst="rect">
            <a:avLst/>
          </a:prstGeom>
          <a:solidFill>
            <a:srgbClr val="28703A"/>
          </a:solidFill>
          <a:ln w="12700">
            <a:solidFill>
              <a:srgbClr val="2870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22860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5047488" y="3063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噴濕消毒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047488" y="3703320"/>
            <a:ext cx="1828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E8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漂白水1:10噴濕，靜置5分鐘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67728" y="3246120"/>
            <a:ext cx="2194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B6B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205472" y="2240280"/>
            <a:ext cx="2011680" cy="3017520"/>
          </a:xfrm>
          <a:prstGeom prst="rect">
            <a:avLst/>
          </a:prstGeom>
          <a:solidFill>
            <a:srgbClr val="1B4A20"/>
          </a:solidFill>
          <a:ln w="12700">
            <a:solidFill>
              <a:srgbClr val="1B4A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05472" y="22860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7296912" y="3063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擦拭清除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296912" y="3703320"/>
            <a:ext cx="1828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E8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紙巾擦起，密封丟棄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217152" y="3246120"/>
            <a:ext cx="2194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B6B"/>
                </a:solidFill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454896" y="2240280"/>
            <a:ext cx="2011680" cy="3017520"/>
          </a:xfrm>
          <a:prstGeom prst="rect">
            <a:avLst/>
          </a:prstGeom>
          <a:solidFill>
            <a:srgbClr val="1B3A0F"/>
          </a:solidFill>
          <a:ln w="12700">
            <a:solidFill>
              <a:srgbClr val="1B3A0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54896" y="22860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9546336" y="3063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立即洗手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546336" y="3703320"/>
            <a:ext cx="1828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E8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脫手套後洗手，不可省略</a:t>
            </a:r>
            <a:endParaRPr lang="en-US" sz="120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03920" y="2240280"/>
            <a:ext cx="3200400" cy="3017520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457200" y="5440680"/>
            <a:ext cx="11247120" cy="868680"/>
          </a:xfrm>
          <a:prstGeom prst="rect">
            <a:avLst/>
          </a:prstGeom>
          <a:solidFill>
            <a:srgbClr val="FFF0E8"/>
          </a:solidFill>
          <a:ln w="12700">
            <a:solidFill>
              <a:srgbClr val="D6400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57200" y="5440680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64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清理後監測：事後 1–8 週內若出現發燒，需主動告知醫務所曾接觸鼠患現場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D5A1B"/>
          </a:solidFill>
          <a:ln w="12700">
            <a:solidFill>
              <a:srgbClr val="2D5A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4000"/>
          </a:solidFill>
          <a:ln w="12700">
            <a:solidFill>
              <a:srgbClr val="D64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醫務所能幫你什麼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8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資源分配與職責劃分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760720"/>
              </a:tblGrid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情境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A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找誰處理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A1B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🐀  發現鼠跡、鼠患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環境衛生管理單位（非醫療部門）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D64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🤒  有人發燒懷疑感染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D5A1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醫務所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🚑  協助轉診就醫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5A1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醫務所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🧤  防護物資（口罩・手套・漂白水）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5A1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醫務所提供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257800"/>
            <a:ext cx="11247120" cy="1417320"/>
          </a:xfrm>
          <a:prstGeom prst="rect">
            <a:avLst/>
          </a:prstGeom>
          <a:solidFill>
            <a:srgbClr val="1B3A0F"/>
          </a:solidFill>
          <a:ln w="12700">
            <a:solidFill>
              <a:srgbClr val="1B3A0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5321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醫療問題找醫務所　　　環境滅鼠找環境衛生管理單位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57200" y="596188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CC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分工明確，才能快速應對、保護戰力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0F"/>
          </a:solidFill>
          <a:ln w="12700">
            <a:solidFill>
              <a:srgbClr val="1B3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64000"/>
          </a:solidFill>
          <a:ln w="12700">
            <a:solidFill>
              <a:srgbClr val="D64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64000"/>
          </a:solidFill>
          <a:ln w="12700">
            <a:solidFill>
              <a:srgbClr val="D64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24500A">
              <a:alpha val="30000"/>
            </a:srgbClr>
          </a:solidFill>
          <a:ln w="12700">
            <a:solidFill>
              <a:srgbClr val="3A7A15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FAD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帶走的三個行動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11247120" cy="36576"/>
          </a:xfrm>
          <a:prstGeom prst="rect">
            <a:avLst/>
          </a:prstGeom>
          <a:solidFill>
            <a:srgbClr val="3A6A1A"/>
          </a:solidFill>
          <a:ln w="12700">
            <a:solidFill>
              <a:srgbClr val="3A6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17320"/>
            <a:ext cx="822960" cy="822960"/>
          </a:xfrm>
          <a:prstGeom prst="ellipse">
            <a:avLst/>
          </a:prstGeom>
          <a:solidFill>
            <a:srgbClr val="D64000"/>
          </a:solidFill>
          <a:ln w="12700">
            <a:solidFill>
              <a:srgbClr val="D64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17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463040" y="132588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看到鼠跡，馬上回報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196596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C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別等、別自己動手清——回報環境衛生管理單位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11247120" cy="36576"/>
          </a:xfrm>
          <a:prstGeom prst="rect">
            <a:avLst/>
          </a:prstGeom>
          <a:solidFill>
            <a:srgbClr val="3A6A1A"/>
          </a:solidFill>
          <a:ln w="12700">
            <a:solidFill>
              <a:srgbClr val="3A6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990088"/>
            <a:ext cx="822960" cy="822960"/>
          </a:xfrm>
          <a:prstGeom prst="ellipse">
            <a:avLst/>
          </a:prstGeom>
          <a:solidFill>
            <a:srgbClr val="D64000"/>
          </a:solidFill>
          <a:ln w="12700">
            <a:solidFill>
              <a:srgbClr val="D64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9008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463040" y="289864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清掃前：通風→噴消毒→戴口罩手套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63040" y="3538728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C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漂白水1:10噴濕，靜置5分鐘後再擦拭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4224528"/>
            <a:ext cx="11247120" cy="36576"/>
          </a:xfrm>
          <a:prstGeom prst="rect">
            <a:avLst/>
          </a:prstGeom>
          <a:solidFill>
            <a:srgbClr val="3A6A1A"/>
          </a:solidFill>
          <a:ln w="12700">
            <a:solidFill>
              <a:srgbClr val="3A6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562856"/>
            <a:ext cx="822960" cy="822960"/>
          </a:xfrm>
          <a:prstGeom prst="ellipse">
            <a:avLst/>
          </a:prstGeom>
          <a:solidFill>
            <a:srgbClr val="D64000"/>
          </a:solidFill>
          <a:ln w="12700">
            <a:solidFill>
              <a:srgbClr val="D64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56285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463040" y="4471416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發燒＋鼠接觸史，立刻就醫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63040" y="5111496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C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主動告知接觸史，讓醫生做正確的漢他篩檢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371600" y="5989320"/>
            <a:ext cx="9418320" cy="685800"/>
          </a:xfrm>
          <a:prstGeom prst="roundRect">
            <a:avLst>
              <a:gd name="adj" fmla="val 10667"/>
            </a:avLst>
          </a:prstGeom>
          <a:solidFill>
            <a:srgbClr val="24500A">
              <a:alpha val="80000"/>
            </a:srgbClr>
          </a:solidFill>
          <a:ln w="12700">
            <a:solidFill>
              <a:srgbClr val="8FAD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5989320"/>
            <a:ext cx="9418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防鼠就是防病，防病就是戰力保存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2026-05-07T01:14:08Z</dcterms:created>
  <dcterms:modified xsi:type="dcterms:W3CDTF">2026-05-07T01:14:08Z</dcterms:modified>
</cp:coreProperties>
</file>